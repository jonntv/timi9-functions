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ón Ingvarsson" userId="2d955f98-634c-468b-ba70-4febcee2aecd" providerId="ADAL" clId="{A413CC66-9049-4837-B1E0-54CB645E0ED1}"/>
    <pc:docChg chg="undo custSel modSld">
      <pc:chgData name="Jón Ingvarsson" userId="2d955f98-634c-468b-ba70-4febcee2aecd" providerId="ADAL" clId="{A413CC66-9049-4837-B1E0-54CB645E0ED1}" dt="2026-03-25T17:48:31.758" v="2" actId="27636"/>
      <pc:docMkLst>
        <pc:docMk/>
      </pc:docMkLst>
      <pc:sldChg chg="addSp delSp modSp mod">
        <pc:chgData name="Jón Ingvarsson" userId="2d955f98-634c-468b-ba70-4febcee2aecd" providerId="ADAL" clId="{A413CC66-9049-4837-B1E0-54CB645E0ED1}" dt="2026-03-25T17:48:31.758" v="2" actId="27636"/>
        <pc:sldMkLst>
          <pc:docMk/>
          <pc:sldMk cId="0" sldId="261"/>
        </pc:sldMkLst>
        <pc:spChg chg="add del mod">
          <ac:chgData name="Jón Ingvarsson" userId="2d955f98-634c-468b-ba70-4febcee2aecd" providerId="ADAL" clId="{A413CC66-9049-4837-B1E0-54CB645E0ED1}" dt="2026-03-25T17:48:31.758" v="2" actId="27636"/>
          <ac:spMkLst>
            <pc:docMk/>
            <pc:sldMk cId="0" sldId="261"/>
            <ac:spMk id="1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2199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Kennslumarkmið
- Byrja á endurtekningu
- Færa svo í functions
- Tengja saman í lokin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 hverju loops
- Berðu saman copy/paste vs repeat logic
- Bentu á að loop sparar vinnu og minnkar villur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loop anatomy
- Bentu á byrjun, skilyrði, breytingu
- Bera saman &lt; og &lt;= með útprentun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while loop
- Spyrðu: hvenær er while þægilegra en for?
- Sýndu infinite loop sem hugmynd, ekki keyra ef tími er knappur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Functions
- Skýrðu að function geymir hegðun, ekki niðurstöðu
- Kallið keyrir functionið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Parameter vs argument
- Láttu nemendur merkja hvaða orð er hvað
- Berðu return saman við console.log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Saman
- Þetta er brúin yfir í arrays og map/filter seinna
- Loop + function er grunnmynstur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Æfingar
- Láttu nemendur reyna fyrst sjálf
- Endaðu á spurningunni um return vs console.log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s-IS"/>
          </a:p>
        </p:txBody>
      </p:sp>
      <p:sp>
        <p:nvSpPr>
          <p:cNvPr id="3" name="Text 1"/>
          <p:cNvSpPr/>
          <p:nvPr/>
        </p:nvSpPr>
        <p:spPr>
          <a:xfrm>
            <a:off x="548640" y="64465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Jon • JavaScript grunnatriði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875520" y="64465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Loops og Functions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21792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is-IS"/>
          </a:p>
        </p:txBody>
      </p:sp>
      <p:sp>
        <p:nvSpPr>
          <p:cNvPr id="3" name="Text 1"/>
          <p:cNvSpPr/>
          <p:nvPr/>
        </p:nvSpPr>
        <p:spPr>
          <a:xfrm>
            <a:off x="786384" y="694944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338CA"/>
                </a:solidFill>
              </a:rPr>
              <a:t>JavaScript grunnatriði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</a:rPr>
              <a:t>Loops og Functions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99339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75569"/>
                </a:solidFill>
              </a:rPr>
              <a:t>Hvernig við endurtökum kóða og pökkum honum í endurnýtanlegar einingar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12280" y="777240"/>
            <a:ext cx="4663440" cy="51663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9E8FF"/>
            </a:solidFill>
            <a:prstDash val="solid"/>
          </a:ln>
          <a:effectLst>
            <a:outerShdw blurRad="127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s-I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71657" y="1078992"/>
            <a:ext cx="3744686" cy="196596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27748" y="3246120"/>
            <a:ext cx="4023360" cy="19202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292608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</a:rPr>
              <a:t>Í lok tímans getur þú: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475569"/>
                </a:solidFill>
              </a:rPr>
              <a:t>• skrifað einfalt for/while loop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475569"/>
                </a:solidFill>
              </a:rPr>
              <a:t>• búið til function með parameter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475569"/>
                </a:solidFill>
              </a:rPr>
              <a:t>• skilið return og endurnýtingu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 hverju þurfum við loops?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686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Loop leyfir okkur að keyra sama mynstrið aftur og aftur án afritunar.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3794760" cy="47091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DCE5F5"/>
            </a:solidFill>
            <a:prstDash val="solid"/>
          </a:ln>
          <a:effectLst>
            <a:outerShdw blurRad="127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s-IS"/>
          </a:p>
        </p:txBody>
      </p:sp>
      <p:sp>
        <p:nvSpPr>
          <p:cNvPr id="5" name="Text 3"/>
          <p:cNvSpPr/>
          <p:nvPr/>
        </p:nvSpPr>
        <p:spPr>
          <a:xfrm>
            <a:off x="868680" y="1508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Án loop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68680" y="1828800"/>
            <a:ext cx="3246120" cy="2011680"/>
          </a:xfrm>
          <a:prstGeom prst="roundRect">
            <a:avLst>
              <a:gd name="adj" fmla="val 5455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blurRad="127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s-IS"/>
          </a:p>
        </p:txBody>
      </p:sp>
      <p:sp>
        <p:nvSpPr>
          <p:cNvPr id="7" name="Text 5"/>
          <p:cNvSpPr/>
          <p:nvPr/>
        </p:nvSpPr>
        <p:spPr>
          <a:xfrm>
            <a:off x="1078992" y="1993392"/>
            <a:ext cx="282549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160520"/>
            <a:ext cx="283464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</a:rPr>
              <a:t>mikil endurtekning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</a:rPr>
              <a:t>erfitt að breyta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</a:rPr>
              <a:t>virkar illa fyrir 100 atriði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663440" y="1234440"/>
            <a:ext cx="6903720" cy="470916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12700">
            <a:solidFill>
              <a:srgbClr val="DCE5F5"/>
            </a:solidFill>
            <a:prstDash val="solid"/>
          </a:ln>
          <a:effectLst>
            <a:outerShdw blurRad="127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s-IS"/>
          </a:p>
        </p:txBody>
      </p:sp>
      <p:sp>
        <p:nvSpPr>
          <p:cNvPr id="10" name="Text 8"/>
          <p:cNvSpPr/>
          <p:nvPr/>
        </p:nvSpPr>
        <p:spPr>
          <a:xfrm>
            <a:off x="4956048" y="1508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Með loop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956048" y="1828800"/>
            <a:ext cx="3383280" cy="1417320"/>
          </a:xfrm>
          <a:prstGeom prst="roundRect">
            <a:avLst>
              <a:gd name="adj" fmla="val 7742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blurRad="127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s-IS"/>
          </a:p>
        </p:txBody>
      </p:sp>
      <p:sp>
        <p:nvSpPr>
          <p:cNvPr id="12" name="Text 10"/>
          <p:cNvSpPr/>
          <p:nvPr/>
        </p:nvSpPr>
        <p:spPr>
          <a:xfrm>
            <a:off x="5166360" y="1993392"/>
            <a:ext cx="296265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39328" y="2494598"/>
            <a:ext cx="2880360" cy="1512189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974336" y="35204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63EB"/>
                </a:solidFill>
              </a:rPr>
              <a:t>Hugmyndin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956048" y="3794760"/>
            <a:ext cx="29718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</a:rPr>
              <a:t>byrja teljara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</a:rPr>
              <a:t>athuga skilyrði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</a:rPr>
              <a:t>keyra blokk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</a:rPr>
              <a:t>uppfæra og endurtaka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loop: þrír hlutir sem skipta máli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686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hentar vel þegar þú veist nokkurn veginn hve oft þú vilt endurtaka.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566928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DCE5F5"/>
            </a:solidFill>
            <a:prstDash val="solid"/>
          </a:ln>
          <a:effectLst>
            <a:outerShdw blurRad="127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s-IS"/>
          </a:p>
        </p:txBody>
      </p:sp>
      <p:sp>
        <p:nvSpPr>
          <p:cNvPr id="5" name="Shape 3"/>
          <p:cNvSpPr/>
          <p:nvPr/>
        </p:nvSpPr>
        <p:spPr>
          <a:xfrm>
            <a:off x="960120" y="1783080"/>
            <a:ext cx="5120640" cy="137160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blurRad="127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s-IS"/>
          </a:p>
        </p:txBody>
      </p:sp>
      <p:sp>
        <p:nvSpPr>
          <p:cNvPr id="6" name="Text 4"/>
          <p:cNvSpPr/>
          <p:nvPr/>
        </p:nvSpPr>
        <p:spPr>
          <a:xfrm>
            <a:off x="1161288" y="1874520"/>
            <a:ext cx="4718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JavaScript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70432" y="2112264"/>
            <a:ext cx="470001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 rot="5400000">
            <a:off x="1828800" y="3218688"/>
            <a:ext cx="292608" cy="256032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s-IS"/>
          </a:p>
        </p:txBody>
      </p:sp>
      <p:sp>
        <p:nvSpPr>
          <p:cNvPr id="9" name="Shape 7"/>
          <p:cNvSpPr/>
          <p:nvPr/>
        </p:nvSpPr>
        <p:spPr>
          <a:xfrm rot="5400000">
            <a:off x="3310128" y="3218688"/>
            <a:ext cx="292608" cy="256032"/>
          </a:xfrm>
          <a:prstGeom prst="chevron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s-IS"/>
          </a:p>
        </p:txBody>
      </p:sp>
      <p:sp>
        <p:nvSpPr>
          <p:cNvPr id="10" name="Shape 8"/>
          <p:cNvSpPr/>
          <p:nvPr/>
        </p:nvSpPr>
        <p:spPr>
          <a:xfrm rot="5400000">
            <a:off x="4709160" y="3218688"/>
            <a:ext cx="292608" cy="256032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s-IS"/>
          </a:p>
        </p:txBody>
      </p:sp>
      <p:sp>
        <p:nvSpPr>
          <p:cNvPr id="11" name="Shape 9"/>
          <p:cNvSpPr/>
          <p:nvPr/>
        </p:nvSpPr>
        <p:spPr>
          <a:xfrm>
            <a:off x="960120" y="3529584"/>
            <a:ext cx="1508760" cy="1234440"/>
          </a:xfrm>
          <a:prstGeom prst="roundRect">
            <a:avLst>
              <a:gd name="adj" fmla="val 888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27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s-IS"/>
          </a:p>
        </p:txBody>
      </p:sp>
      <p:sp>
        <p:nvSpPr>
          <p:cNvPr id="12" name="Shape 10"/>
          <p:cNvSpPr/>
          <p:nvPr/>
        </p:nvSpPr>
        <p:spPr>
          <a:xfrm>
            <a:off x="2624328" y="3529584"/>
            <a:ext cx="1783080" cy="1234440"/>
          </a:xfrm>
          <a:prstGeom prst="roundRect">
            <a:avLst>
              <a:gd name="adj" fmla="val 888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blurRad="127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s-IS"/>
          </a:p>
        </p:txBody>
      </p:sp>
      <p:sp>
        <p:nvSpPr>
          <p:cNvPr id="13" name="Shape 11"/>
          <p:cNvSpPr/>
          <p:nvPr/>
        </p:nvSpPr>
        <p:spPr>
          <a:xfrm>
            <a:off x="4572000" y="3529584"/>
            <a:ext cx="1508760" cy="1234440"/>
          </a:xfrm>
          <a:prstGeom prst="roundRect">
            <a:avLst>
              <a:gd name="adj" fmla="val 8889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blurRad="127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s-IS"/>
          </a:p>
        </p:txBody>
      </p:sp>
      <p:sp>
        <p:nvSpPr>
          <p:cNvPr id="14" name="Text 12"/>
          <p:cNvSpPr/>
          <p:nvPr/>
        </p:nvSpPr>
        <p:spPr>
          <a:xfrm>
            <a:off x="1115568" y="37490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</a:rPr>
              <a:t>byrjun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</a:rPr>
              <a:t>let i = 0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852928" y="374904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</a:rPr>
              <a:t>skilyrði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</a:rPr>
              <a:t>i &lt; 5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73168" y="37490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breyting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i++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656832" y="1325880"/>
            <a:ext cx="489204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DCE5F5"/>
            </a:solidFill>
            <a:prstDash val="solid"/>
          </a:ln>
          <a:effectLst>
            <a:outerShdw blurRad="127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s-IS"/>
          </a:p>
        </p:txBody>
      </p:sp>
      <p:sp>
        <p:nvSpPr>
          <p:cNvPr id="18" name="Text 16"/>
          <p:cNvSpPr/>
          <p:nvPr/>
        </p:nvSpPr>
        <p:spPr>
          <a:xfrm>
            <a:off x="6949440" y="16002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Það sem nemendur rugla oft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49440" y="1965960"/>
            <a:ext cx="393192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52400" indent="-152400">
              <a:buSzPct val="100000"/>
              <a:buChar char="•"/>
            </a:pPr>
            <a:r>
              <a:rPr lang="en-US" sz="1900" dirty="0">
                <a:solidFill>
                  <a:srgbClr val="475569"/>
                </a:solidFill>
              </a:rPr>
              <a:t>i &lt; 5 prentar 0,1,2,3,4</a:t>
            </a:r>
            <a:endParaRPr lang="en-US" sz="1900" dirty="0"/>
          </a:p>
          <a:p>
            <a:pPr marL="152400" indent="-152400">
              <a:buSzPct val="100000"/>
              <a:buChar char="•"/>
            </a:pPr>
            <a:r>
              <a:rPr lang="en-US" sz="1900" dirty="0">
                <a:solidFill>
                  <a:srgbClr val="475569"/>
                </a:solidFill>
              </a:rPr>
              <a:t>i &lt;= 5 bætir 5 líka við</a:t>
            </a:r>
            <a:endParaRPr lang="en-US" sz="1900" dirty="0"/>
          </a:p>
          <a:p>
            <a:pPr marL="152400" indent="-152400">
              <a:buSzPct val="100000"/>
              <a:buChar char="•"/>
            </a:pPr>
            <a:r>
              <a:rPr lang="en-US" sz="1900" dirty="0">
                <a:solidFill>
                  <a:srgbClr val="475569"/>
                </a:solidFill>
              </a:rPr>
              <a:t>i++ hækkar um 1 í lok hverrar umferðar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967728" y="3794760"/>
            <a:ext cx="4251960" cy="1325880"/>
          </a:xfrm>
          <a:prstGeom prst="roundRect">
            <a:avLst>
              <a:gd name="adj" fmla="val 8276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blurRad="127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s-IS"/>
          </a:p>
        </p:txBody>
      </p:sp>
      <p:sp>
        <p:nvSpPr>
          <p:cNvPr id="21" name="Text 19"/>
          <p:cNvSpPr/>
          <p:nvPr/>
        </p:nvSpPr>
        <p:spPr>
          <a:xfrm>
            <a:off x="7168896" y="3886200"/>
            <a:ext cx="3849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Prentar "Halló" þrisvar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178040" y="4123944"/>
            <a:ext cx="383133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"Halló"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while loop: keyra meðan skilyrði er satt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686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while er oft gott þegar við vitum ekki nákvæmlega fjölda umferða fyrirfram.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544068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DCE5F5"/>
            </a:solidFill>
            <a:prstDash val="solid"/>
          </a:ln>
          <a:effectLst>
            <a:outerShdw blurRad="127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s-IS"/>
          </a:p>
        </p:txBody>
      </p:sp>
      <p:sp>
        <p:nvSpPr>
          <p:cNvPr id="5" name="Shape 3"/>
          <p:cNvSpPr/>
          <p:nvPr/>
        </p:nvSpPr>
        <p:spPr>
          <a:xfrm>
            <a:off x="914400" y="1691640"/>
            <a:ext cx="4983480" cy="3246120"/>
          </a:xfrm>
          <a:prstGeom prst="roundRect">
            <a:avLst>
              <a:gd name="adj" fmla="val 338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blurRad="127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s-IS"/>
          </a:p>
        </p:txBody>
      </p:sp>
      <p:sp>
        <p:nvSpPr>
          <p:cNvPr id="6" name="Text 4"/>
          <p:cNvSpPr/>
          <p:nvPr/>
        </p:nvSpPr>
        <p:spPr>
          <a:xfrm>
            <a:off x="1115568" y="1783080"/>
            <a:ext cx="4581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niðurtalning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24712" y="2020824"/>
            <a:ext cx="4562856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count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"Go!"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0" y="1325880"/>
            <a:ext cx="5074920" cy="2011680"/>
          </a:xfrm>
          <a:prstGeom prst="roundRect">
            <a:avLst>
              <a:gd name="adj" fmla="val 545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blurRad="127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s-IS"/>
          </a:p>
        </p:txBody>
      </p:sp>
      <p:sp>
        <p:nvSpPr>
          <p:cNvPr id="9" name="Text 7"/>
          <p:cNvSpPr/>
          <p:nvPr/>
        </p:nvSpPr>
        <p:spPr>
          <a:xfrm>
            <a:off x="6720840" y="1627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91B1B"/>
                </a:solidFill>
              </a:rPr>
              <a:t>Passa: infinite loop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720840" y="1965960"/>
            <a:ext cx="4434840" cy="1078992"/>
          </a:xfrm>
          <a:prstGeom prst="roundRect">
            <a:avLst>
              <a:gd name="adj" fmla="val 10169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blurRad="127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s-IS"/>
          </a:p>
        </p:txBody>
      </p:sp>
      <p:sp>
        <p:nvSpPr>
          <p:cNvPr id="11" name="Text 9"/>
          <p:cNvSpPr/>
          <p:nvPr/>
        </p:nvSpPr>
        <p:spPr>
          <a:xfrm>
            <a:off x="6922008" y="2057400"/>
            <a:ext cx="4032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stoppar aldrei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931152" y="2295144"/>
            <a:ext cx="4014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0" y="3611880"/>
            <a:ext cx="5074920" cy="2148840"/>
          </a:xfrm>
          <a:prstGeom prst="roundRect">
            <a:avLst>
              <a:gd name="adj" fmla="val 510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blurRad="127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s-IS"/>
          </a:p>
        </p:txBody>
      </p:sp>
      <p:sp>
        <p:nvSpPr>
          <p:cNvPr id="14" name="Text 12"/>
          <p:cNvSpPr/>
          <p:nvPr/>
        </p:nvSpPr>
        <p:spPr>
          <a:xfrm>
            <a:off x="6720840" y="39136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F46"/>
                </a:solidFill>
              </a:rPr>
              <a:t>Regla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720840" y="4224528"/>
            <a:ext cx="4297680" cy="1188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</a:rPr>
              <a:t>breytan í skilyrðinu þarf að breytast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</a:rPr>
              <a:t>annars helst skilyrðið satt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</a:rPr>
              <a:t>while þarf næstum alltaf uppfærslu inni í blokkinni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Function = endurnýtanleg blokk af kóða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686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Við setjum hegðun í function svo við getum kallað á hana aftur og aftur.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8368" y="1325880"/>
            <a:ext cx="52578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CE5F5"/>
            </a:solidFill>
            <a:prstDash val="solid"/>
          </a:ln>
          <a:effectLst>
            <a:outerShdw blurRad="127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s-IS"/>
          </a:p>
        </p:txBody>
      </p:sp>
      <p:sp>
        <p:nvSpPr>
          <p:cNvPr id="5" name="Shape 3"/>
          <p:cNvSpPr/>
          <p:nvPr/>
        </p:nvSpPr>
        <p:spPr>
          <a:xfrm>
            <a:off x="896112" y="1783080"/>
            <a:ext cx="4800600" cy="2103120"/>
          </a:xfrm>
          <a:prstGeom prst="roundRect">
            <a:avLst>
              <a:gd name="adj" fmla="val 5217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blurRad="127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s-IS"/>
          </a:p>
        </p:txBody>
      </p:sp>
      <p:sp>
        <p:nvSpPr>
          <p:cNvPr id="6" name="Text 4"/>
          <p:cNvSpPr/>
          <p:nvPr/>
        </p:nvSpPr>
        <p:spPr>
          <a:xfrm>
            <a:off x="1097280" y="1874520"/>
            <a:ext cx="4398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einfalt function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06424" y="2112264"/>
            <a:ext cx="4379976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greet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"Halló "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"Jón"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251960"/>
            <a:ext cx="457200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52400" indent="-152400">
              <a:buSzPct val="100000"/>
              <a:buChar char="•"/>
            </a:pPr>
            <a:r>
              <a:rPr lang="en-US" sz="1900" dirty="0">
                <a:solidFill>
                  <a:srgbClr val="475569"/>
                </a:solidFill>
              </a:rPr>
              <a:t>function hefur nafn</a:t>
            </a:r>
            <a:endParaRPr lang="en-US" sz="1900" dirty="0"/>
          </a:p>
          <a:p>
            <a:pPr marL="152400" indent="-152400">
              <a:buSzPct val="100000"/>
              <a:buChar char="•"/>
            </a:pPr>
            <a:r>
              <a:rPr lang="en-US" sz="1900" dirty="0">
                <a:solidFill>
                  <a:srgbClr val="475569"/>
                </a:solidFill>
              </a:rPr>
              <a:t>tekur oft input (parameter)</a:t>
            </a:r>
            <a:endParaRPr lang="en-US" sz="1900" dirty="0"/>
          </a:p>
          <a:p>
            <a:pPr marL="152400" indent="-152400">
              <a:buSzPct val="100000"/>
              <a:buChar char="•"/>
            </a:pPr>
            <a:r>
              <a:rPr lang="en-US" sz="1900" dirty="0">
                <a:solidFill>
                  <a:srgbClr val="475569"/>
                </a:solidFill>
              </a:rPr>
              <a:t>getur skilað gildi með return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217920" y="1325880"/>
            <a:ext cx="5321808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CE5F5"/>
            </a:solidFill>
            <a:prstDash val="solid"/>
          </a:ln>
          <a:effectLst>
            <a:outerShdw blurRad="127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s-I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37960" y="1698914"/>
            <a:ext cx="4663440" cy="2225733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629400" y="4343400"/>
            <a:ext cx="1417320" cy="914400"/>
          </a:xfrm>
          <a:prstGeom prst="round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blurRad="127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s-IS"/>
          </a:p>
        </p:txBody>
      </p:sp>
      <p:sp>
        <p:nvSpPr>
          <p:cNvPr id="12" name="Shape 9"/>
          <p:cNvSpPr/>
          <p:nvPr/>
        </p:nvSpPr>
        <p:spPr>
          <a:xfrm>
            <a:off x="8229600" y="4343400"/>
            <a:ext cx="1325880" cy="91440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  <a:effectLst>
            <a:outerShdw blurRad="127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s-IS"/>
          </a:p>
        </p:txBody>
      </p:sp>
      <p:sp>
        <p:nvSpPr>
          <p:cNvPr id="13" name="Shape 10"/>
          <p:cNvSpPr/>
          <p:nvPr/>
        </p:nvSpPr>
        <p:spPr>
          <a:xfrm>
            <a:off x="9738360" y="4343400"/>
            <a:ext cx="1325880" cy="914400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blurRad="127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s-IS"/>
          </a:p>
        </p:txBody>
      </p:sp>
      <p:sp>
        <p:nvSpPr>
          <p:cNvPr id="14" name="Text 11"/>
          <p:cNvSpPr/>
          <p:nvPr/>
        </p:nvSpPr>
        <p:spPr>
          <a:xfrm>
            <a:off x="6729984" y="4645152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338CA"/>
                </a:solidFill>
              </a:rPr>
              <a:t>parameter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330184" y="4645152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</a:rPr>
              <a:t>logic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838944" y="4645152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F46"/>
                </a:solidFill>
              </a:rPr>
              <a:t>return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Parameter, argument og return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686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Þrjú orð sem nemendur þurfa að þekkja vel.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640080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DCE5F5"/>
            </a:solidFill>
            <a:prstDash val="solid"/>
          </a:ln>
          <a:effectLst>
            <a:outerShdw blurRad="127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s-IS"/>
          </a:p>
        </p:txBody>
      </p:sp>
      <p:sp>
        <p:nvSpPr>
          <p:cNvPr id="5" name="Shape 3"/>
          <p:cNvSpPr/>
          <p:nvPr/>
        </p:nvSpPr>
        <p:spPr>
          <a:xfrm>
            <a:off x="914400" y="1783080"/>
            <a:ext cx="4023360" cy="1737360"/>
          </a:xfrm>
          <a:prstGeom prst="roundRect">
            <a:avLst>
              <a:gd name="adj" fmla="val 6316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blurRad="127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s-IS"/>
          </a:p>
        </p:txBody>
      </p:sp>
      <p:sp>
        <p:nvSpPr>
          <p:cNvPr id="6" name="Text 4"/>
          <p:cNvSpPr/>
          <p:nvPr/>
        </p:nvSpPr>
        <p:spPr>
          <a:xfrm>
            <a:off x="1115568" y="1874520"/>
            <a:ext cx="3621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skoðum línu fyrir línu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24712" y="2112264"/>
            <a:ext cx="360273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add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total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add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138928" y="1828800"/>
            <a:ext cx="1554480" cy="1051560"/>
          </a:xfrm>
          <a:prstGeom prst="roundRect">
            <a:avLst>
              <a:gd name="adj" fmla="val 10435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blurRad="127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s-IS"/>
          </a:p>
        </p:txBody>
      </p:sp>
      <p:sp>
        <p:nvSpPr>
          <p:cNvPr id="9" name="Shape 7"/>
          <p:cNvSpPr/>
          <p:nvPr/>
        </p:nvSpPr>
        <p:spPr>
          <a:xfrm>
            <a:off x="5138928" y="3154680"/>
            <a:ext cx="1554480" cy="1051560"/>
          </a:xfrm>
          <a:prstGeom prst="roundRect">
            <a:avLst>
              <a:gd name="adj" fmla="val 10435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  <a:effectLst>
            <a:outerShdw blurRad="127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s-IS"/>
          </a:p>
        </p:txBody>
      </p:sp>
      <p:sp>
        <p:nvSpPr>
          <p:cNvPr id="10" name="Shape 8"/>
          <p:cNvSpPr/>
          <p:nvPr/>
        </p:nvSpPr>
        <p:spPr>
          <a:xfrm>
            <a:off x="5138928" y="4480560"/>
            <a:ext cx="1554480" cy="914400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blurRad="127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s-IS"/>
          </a:p>
        </p:txBody>
      </p:sp>
      <p:sp>
        <p:nvSpPr>
          <p:cNvPr id="11" name="Text 9"/>
          <p:cNvSpPr/>
          <p:nvPr/>
        </p:nvSpPr>
        <p:spPr>
          <a:xfrm>
            <a:off x="5321808" y="21214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338CA"/>
                </a:solidFill>
              </a:rPr>
              <a:t>a, b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4338CA"/>
                </a:solidFill>
              </a:rPr>
              <a:t>= parameters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21808" y="344728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</a:rPr>
              <a:t>2, 3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</a:rPr>
              <a:t>= arguments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66944" y="477316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5F46"/>
                </a:solidFill>
              </a:rPr>
              <a:t>5 = return gildi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0" y="1417320"/>
            <a:ext cx="4206240" cy="1965960"/>
          </a:xfrm>
          <a:prstGeom prst="roundRect">
            <a:avLst>
              <a:gd name="adj" fmla="val 5581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blurRad="127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s-IS"/>
          </a:p>
        </p:txBody>
      </p:sp>
      <p:sp>
        <p:nvSpPr>
          <p:cNvPr id="15" name="Text 13"/>
          <p:cNvSpPr/>
          <p:nvPr/>
        </p:nvSpPr>
        <p:spPr>
          <a:xfrm>
            <a:off x="7589520" y="17373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9A3412"/>
                </a:solidFill>
              </a:rPr>
              <a:t>Algeng villa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571232" y="2057400"/>
            <a:ext cx="3657600" cy="987552"/>
          </a:xfrm>
          <a:prstGeom prst="roundRect">
            <a:avLst>
              <a:gd name="adj" fmla="val 11111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blurRad="127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s-IS"/>
          </a:p>
        </p:txBody>
      </p:sp>
      <p:sp>
        <p:nvSpPr>
          <p:cNvPr id="17" name="Text 15"/>
          <p:cNvSpPr/>
          <p:nvPr/>
        </p:nvSpPr>
        <p:spPr>
          <a:xfrm>
            <a:off x="7772400" y="2148840"/>
            <a:ext cx="3255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vantar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781544" y="2386584"/>
            <a:ext cx="3236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55000" lnSpcReduction="2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add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undefined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15200" y="3657600"/>
            <a:ext cx="4206240" cy="210312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12700">
            <a:solidFill>
              <a:srgbClr val="DCE5F5"/>
            </a:solidFill>
            <a:prstDash val="solid"/>
          </a:ln>
          <a:effectLst>
            <a:outerShdw blurRad="127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s-IS"/>
          </a:p>
        </p:txBody>
      </p:sp>
      <p:sp>
        <p:nvSpPr>
          <p:cNvPr id="20" name="Text 18"/>
          <p:cNvSpPr/>
          <p:nvPr/>
        </p:nvSpPr>
        <p:spPr>
          <a:xfrm>
            <a:off x="7589520" y="39776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</a:rPr>
              <a:t>Muna þetta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589520" y="4297680"/>
            <a:ext cx="356616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</a:rPr>
              <a:t>parameter er nafnið inni í function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</a:rPr>
              <a:t>argument er gildið sem við sendum inn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</a:rPr>
              <a:t>return skilar gildi út úr function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Loops + functions saman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686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Mjög algengt mynstur: loop fer yfir gögn og function sér um eina aðgerð.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562356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CE5F5"/>
            </a:solidFill>
            <a:prstDash val="solid"/>
          </a:ln>
          <a:effectLst>
            <a:outerShdw blurRad="127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s-IS"/>
          </a:p>
        </p:txBody>
      </p:sp>
      <p:sp>
        <p:nvSpPr>
          <p:cNvPr id="5" name="Shape 3"/>
          <p:cNvSpPr/>
          <p:nvPr/>
        </p:nvSpPr>
        <p:spPr>
          <a:xfrm>
            <a:off x="914400" y="1737360"/>
            <a:ext cx="5166360" cy="2560320"/>
          </a:xfrm>
          <a:prstGeom prst="roundRect">
            <a:avLst>
              <a:gd name="adj" fmla="val 4286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blurRad="127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s-IS"/>
          </a:p>
        </p:txBody>
      </p:sp>
      <p:sp>
        <p:nvSpPr>
          <p:cNvPr id="6" name="Text 4"/>
          <p:cNvSpPr/>
          <p:nvPr/>
        </p:nvSpPr>
        <p:spPr>
          <a:xfrm>
            <a:off x="1115568" y="1828800"/>
            <a:ext cx="4764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loop kallar á function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24712" y="2066544"/>
            <a:ext cx="4745736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doubleNumber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num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doubleNumber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41832" y="46177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</a:rPr>
              <a:t>Úttak: 2, 4, 6, 8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37960" y="1325880"/>
            <a:ext cx="498348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CE5F5"/>
            </a:solidFill>
            <a:prstDash val="solid"/>
          </a:ln>
          <a:effectLst>
            <a:outerShdw blurRad="127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s-IS"/>
          </a:p>
        </p:txBody>
      </p:sp>
      <p:sp>
        <p:nvSpPr>
          <p:cNvPr id="10" name="Shape 8"/>
          <p:cNvSpPr/>
          <p:nvPr/>
        </p:nvSpPr>
        <p:spPr>
          <a:xfrm>
            <a:off x="8010144" y="2286000"/>
            <a:ext cx="292608" cy="146304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s-IS"/>
          </a:p>
        </p:txBody>
      </p:sp>
      <p:sp>
        <p:nvSpPr>
          <p:cNvPr id="11" name="Shape 9"/>
          <p:cNvSpPr/>
          <p:nvPr/>
        </p:nvSpPr>
        <p:spPr>
          <a:xfrm>
            <a:off x="9656064" y="2286000"/>
            <a:ext cx="256032" cy="146304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s-IS"/>
          </a:p>
        </p:txBody>
      </p:sp>
      <p:sp>
        <p:nvSpPr>
          <p:cNvPr id="12" name="Shape 10"/>
          <p:cNvSpPr/>
          <p:nvPr/>
        </p:nvSpPr>
        <p:spPr>
          <a:xfrm>
            <a:off x="6812280" y="1828800"/>
            <a:ext cx="1143000" cy="1325880"/>
          </a:xfrm>
          <a:prstGeom prst="roundRect">
            <a:avLst>
              <a:gd name="adj" fmla="val 96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blurRad="127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s-IS"/>
          </a:p>
        </p:txBody>
      </p:sp>
      <p:sp>
        <p:nvSpPr>
          <p:cNvPr id="13" name="Shape 11"/>
          <p:cNvSpPr/>
          <p:nvPr/>
        </p:nvSpPr>
        <p:spPr>
          <a:xfrm>
            <a:off x="8503920" y="1828800"/>
            <a:ext cx="1143000" cy="1325880"/>
          </a:xfrm>
          <a:prstGeom prst="roundRect">
            <a:avLst>
              <a:gd name="adj" fmla="val 9600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  <a:effectLst>
            <a:outerShdw blurRad="127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s-IS"/>
          </a:p>
        </p:txBody>
      </p:sp>
      <p:sp>
        <p:nvSpPr>
          <p:cNvPr id="14" name="Shape 12"/>
          <p:cNvSpPr/>
          <p:nvPr/>
        </p:nvSpPr>
        <p:spPr>
          <a:xfrm>
            <a:off x="10149840" y="1828800"/>
            <a:ext cx="1051560" cy="1325880"/>
          </a:xfrm>
          <a:prstGeom prst="roundRect">
            <a:avLst>
              <a:gd name="adj" fmla="val 10435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blurRad="127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s-IS"/>
          </a:p>
        </p:txBody>
      </p:sp>
      <p:sp>
        <p:nvSpPr>
          <p:cNvPr id="15" name="Text 13"/>
          <p:cNvSpPr/>
          <p:nvPr/>
        </p:nvSpPr>
        <p:spPr>
          <a:xfrm>
            <a:off x="6931152" y="2212848"/>
            <a:ext cx="896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338CA"/>
                </a:solidFill>
              </a:rPr>
              <a:t>loop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4338CA"/>
                </a:solidFill>
              </a:rPr>
              <a:t>velur i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622792" y="2212848"/>
            <a:ext cx="896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563EB"/>
                </a:solidFill>
              </a:rPr>
              <a:t>function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2563EB"/>
                </a:solidFill>
              </a:rPr>
              <a:t>vinnur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259568" y="2322576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F46"/>
                </a:solidFill>
              </a:rPr>
              <a:t>útprentun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39712" y="37307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Góð regla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39712" y="4069080"/>
            <a:ext cx="4160520" cy="1188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</a:rPr>
              <a:t>loop stjórnar endurtekningunni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</a:rPr>
              <a:t>function sér um eina skýra aðgerð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</a:rPr>
              <a:t>þá verður kóðinn auðveldari að lesa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Stutt upprifjun + tvær æfingar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8686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Nemendur eiga að geta lesið, breytt og skrifað einföld dæmi eftir þessa yfirferð.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3337560" cy="4480560"/>
          </a:xfrm>
          <a:prstGeom prst="roundRect">
            <a:avLst>
              <a:gd name="adj" fmla="val 3288"/>
            </a:avLst>
          </a:prstGeom>
          <a:solidFill>
            <a:srgbClr val="F8FAFC"/>
          </a:solidFill>
          <a:ln w="12700">
            <a:solidFill>
              <a:srgbClr val="DCE5F5"/>
            </a:solidFill>
            <a:prstDash val="solid"/>
          </a:ln>
          <a:effectLst>
            <a:outerShdw blurRad="127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s-IS"/>
          </a:p>
        </p:txBody>
      </p:sp>
      <p:sp>
        <p:nvSpPr>
          <p:cNvPr id="5" name="Text 3"/>
          <p:cNvSpPr/>
          <p:nvPr/>
        </p:nvSpPr>
        <p:spPr>
          <a:xfrm>
            <a:off x="960120" y="16916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</a:rPr>
              <a:t>Muna þetta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2029968"/>
            <a:ext cx="269748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52400" indent="-152400">
              <a:buSzPct val="100000"/>
              <a:buChar char="•"/>
            </a:pPr>
            <a:r>
              <a:rPr lang="en-US" sz="2000" dirty="0">
                <a:solidFill>
                  <a:srgbClr val="475569"/>
                </a:solidFill>
              </a:rPr>
              <a:t>for / while = endurtekning</a:t>
            </a:r>
            <a:endParaRPr lang="en-US" sz="2000" dirty="0"/>
          </a:p>
          <a:p>
            <a:pPr marL="152400" indent="-152400">
              <a:buSzPct val="100000"/>
              <a:buChar char="•"/>
            </a:pPr>
            <a:r>
              <a:rPr lang="en-US" sz="2000" dirty="0">
                <a:solidFill>
                  <a:srgbClr val="475569"/>
                </a:solidFill>
              </a:rPr>
              <a:t>function = endurnýtanleg blokk</a:t>
            </a:r>
            <a:endParaRPr lang="en-US" sz="2000" dirty="0"/>
          </a:p>
          <a:p>
            <a:pPr marL="152400" indent="-152400">
              <a:buSzPct val="100000"/>
              <a:buChar char="•"/>
            </a:pPr>
            <a:r>
              <a:rPr lang="en-US" sz="2000" dirty="0">
                <a:solidFill>
                  <a:srgbClr val="475569"/>
                </a:solidFill>
              </a:rPr>
              <a:t>parameter = nafn</a:t>
            </a:r>
            <a:endParaRPr lang="en-US" sz="2000" dirty="0"/>
          </a:p>
          <a:p>
            <a:pPr marL="152400" indent="-152400">
              <a:buSzPct val="100000"/>
              <a:buChar char="•"/>
            </a:pPr>
            <a:r>
              <a:rPr lang="en-US" sz="2000" dirty="0">
                <a:solidFill>
                  <a:srgbClr val="475569"/>
                </a:solidFill>
              </a:rPr>
              <a:t>argument = gildi</a:t>
            </a:r>
            <a:endParaRPr lang="en-US" sz="2000" dirty="0"/>
          </a:p>
          <a:p>
            <a:pPr marL="152400" indent="-152400">
              <a:buSzPct val="100000"/>
              <a:buChar char="•"/>
            </a:pPr>
            <a:r>
              <a:rPr lang="en-US" sz="2000" dirty="0">
                <a:solidFill>
                  <a:srgbClr val="475569"/>
                </a:solidFill>
              </a:rPr>
              <a:t>return = skilar út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297680" y="1371600"/>
            <a:ext cx="3611880" cy="448056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CE5F5"/>
            </a:solidFill>
            <a:prstDash val="solid"/>
          </a:ln>
          <a:effectLst>
            <a:outerShdw blurRad="127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s-IS"/>
          </a:p>
        </p:txBody>
      </p:sp>
      <p:sp>
        <p:nvSpPr>
          <p:cNvPr id="8" name="Text 6"/>
          <p:cNvSpPr/>
          <p:nvPr/>
        </p:nvSpPr>
        <p:spPr>
          <a:xfrm>
            <a:off x="4572000" y="1691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</a:rPr>
              <a:t>Æfing 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0" y="20574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75569"/>
                </a:solidFill>
              </a:rPr>
              <a:t>Skrifaðu loop sem prentar tölurnar 1 til 5.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0" y="3063240"/>
            <a:ext cx="2971800" cy="1325880"/>
          </a:xfrm>
          <a:prstGeom prst="roundRect">
            <a:avLst>
              <a:gd name="adj" fmla="val 8276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blurRad="127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s-IS"/>
          </a:p>
        </p:txBody>
      </p:sp>
      <p:sp>
        <p:nvSpPr>
          <p:cNvPr id="11" name="Text 9"/>
          <p:cNvSpPr/>
          <p:nvPr/>
        </p:nvSpPr>
        <p:spPr>
          <a:xfrm>
            <a:off x="4773168" y="3154680"/>
            <a:ext cx="2569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 möguleg lausn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82312" y="3392424"/>
            <a:ext cx="255117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83880" y="1371600"/>
            <a:ext cx="3337560" cy="4480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DCE5F5"/>
            </a:solidFill>
            <a:prstDash val="solid"/>
          </a:ln>
          <a:effectLst>
            <a:outerShdw blurRad="127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s-IS"/>
          </a:p>
        </p:txBody>
      </p:sp>
      <p:sp>
        <p:nvSpPr>
          <p:cNvPr id="14" name="Text 12"/>
          <p:cNvSpPr/>
          <p:nvPr/>
        </p:nvSpPr>
        <p:spPr>
          <a:xfrm>
            <a:off x="8430768" y="1691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</a:rPr>
              <a:t>Æfing 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430768" y="20574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75569"/>
                </a:solidFill>
              </a:rPr>
              <a:t>Búðu til function square(num) sem skilar ferningsgildi.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430768" y="3063240"/>
            <a:ext cx="2697480" cy="1325880"/>
          </a:xfrm>
          <a:prstGeom prst="roundRect">
            <a:avLst>
              <a:gd name="adj" fmla="val 8276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blurRad="12700" dist="1524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s-IS"/>
          </a:p>
        </p:txBody>
      </p:sp>
      <p:sp>
        <p:nvSpPr>
          <p:cNvPr id="17" name="Text 15"/>
          <p:cNvSpPr/>
          <p:nvPr/>
        </p:nvSpPr>
        <p:spPr>
          <a:xfrm>
            <a:off x="8631936" y="3154680"/>
            <a:ext cx="2295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 möguleg lausn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641080" y="3392424"/>
            <a:ext cx="227685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square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num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num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974</Words>
  <Application>Microsoft Office PowerPoint</Application>
  <PresentationFormat>Widescreen</PresentationFormat>
  <Paragraphs>120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Loops og Functions</dc:title>
  <dc:subject>Loops og functions</dc:subject>
  <dc:creator>OpenAI</dc:creator>
  <cp:lastModifiedBy>Jón Ingvarsson</cp:lastModifiedBy>
  <cp:revision>1</cp:revision>
  <dcterms:created xsi:type="dcterms:W3CDTF">2026-03-25T11:06:34Z</dcterms:created>
  <dcterms:modified xsi:type="dcterms:W3CDTF">2026-03-25T17:48:34Z</dcterms:modified>
</cp:coreProperties>
</file>